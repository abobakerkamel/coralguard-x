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66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 AI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10241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+ Classification Pipeline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1490472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Stage 3  →  MobileNetV4 V3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مبسط لما تم تنفيذه: المشكلة، المدخلات، المخرجات، الـPipeline، وتطورات YOLO و MobileNet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31546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322783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3575304"/>
            <a:ext cx="18379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 / فيديو تحت الماء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63240" y="3364992"/>
            <a:ext cx="594360" cy="59436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31546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4488" y="322783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04488" y="3575304"/>
            <a:ext cx="18379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يحدد أماكن الشعاب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3364992"/>
            <a:ext cx="594360" cy="59436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315468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322783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30568" y="3575304"/>
            <a:ext cx="18379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يحدد نوع الشعاب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15400" y="3364992"/>
            <a:ext cx="594360" cy="594360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31546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56648" y="322783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56648" y="3575304"/>
            <a:ext cx="17007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فيديو annotated + نتائج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 AI •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Problem — تعريف المشكلة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المطلوب ليس فقط رؤية الشعاب؛ المطلوب تحديد مكانها ونوعها داخل صور وفيديوهات تحت الماء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091A2A"/>
          </a:solidFill>
          <a:ln w="15240">
            <a:solidFill>
              <a:srgbClr val="4DE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2529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يجب أن يحل مشكلتين متتاليتين: أين توجد الشعاب؟ ثم ما نوعها؟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05740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3055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Problem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478024"/>
            <a:ext cx="302666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الشعاب صغيرة، متداخلة، وأحيانًا لونها قريب من الخلفية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2423160"/>
            <a:ext cx="658368" cy="566928"/>
          </a:xfrm>
          <a:prstGeom prst="rightArrow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205740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93208" y="21305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Problem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93208" y="2478024"/>
            <a:ext cx="26609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تحديد الـBox، نحتاج تحديد النوع من 6 أنواع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2423160"/>
            <a:ext cx="658368" cy="566928"/>
          </a:xfrm>
          <a:prstGeom prst="rightArrow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20574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25128" y="213055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Problem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25128" y="2478024"/>
            <a:ext cx="23865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البوكس والاسم ممكن يتهزوا بين الفريمات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3977640"/>
            <a:ext cx="106984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التحديات الأساسية: ضعف الإضاءة، عكارة المياه، صغر حجم بعض الشعاب، تشابه الأنواع، وتغير شكل الجسم بين الصور والفيديو.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88720" y="5230368"/>
            <a:ext cx="9784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55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الحقيقة المهمة: لو الـDetector فات كائن، الـClassifier لن يراه من الأساس. لذلك الاختناق الأكبر حاليًا في Detection خصوصًا small/crowded coral.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 AI •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— المدخلات والمخرجات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صياغة النظام بشكل هندسي بسيط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647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112264"/>
            <a:ext cx="26151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صورة تحت الماء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9923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3346704"/>
            <a:ext cx="26151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فيديو غواص / كاميرا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0" y="2377440"/>
            <a:ext cx="777240" cy="68580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64592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171907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47488" y="2066544"/>
            <a:ext cx="197510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+ Classification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52360" y="2377440"/>
            <a:ext cx="777240" cy="685800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1298448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67928" y="1371600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67928" y="1719072"/>
            <a:ext cx="2752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Bounding Boxes حول الشعاب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58200" y="23317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67928" y="240487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67928" y="2752344"/>
            <a:ext cx="2752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Name + Confidence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58200" y="3364992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67928" y="3438144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67928" y="3785616"/>
            <a:ext cx="275234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Video + CSV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4709160"/>
            <a:ext cx="106070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النهائية: كل مرجانة يظهر عليها مربع + اسم النوع + ثقة الـDetector + ثقة الـClassifier.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 AI •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— من الصورة إلى القرار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نفس الـPipeline تعمل على الصور وعلى كل Frame في الفيديو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03911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2386584"/>
            <a:ext cx="13807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/ Image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67712" y="2194560"/>
            <a:ext cx="502920" cy="50292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4368" y="19659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54096" y="203911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54096" y="2386584"/>
            <a:ext cx="13807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Stage 3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Box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2194560"/>
            <a:ext cx="502920" cy="50292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94960" y="19659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203911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04688" y="2386584"/>
            <a:ext cx="13807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Context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59752" y="2194560"/>
            <a:ext cx="502920" cy="50292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45552" y="19659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203911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0" y="2386584"/>
            <a:ext cx="13807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MobileNetV4 V3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10344" y="2194560"/>
            <a:ext cx="502920" cy="502920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96144" y="1965960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05872" y="203911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405872" y="2386584"/>
            <a:ext cx="119786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Video/CSV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3977640"/>
            <a:ext cx="104241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التدريب: نعلّم YOLO على الـBoxes ونعلّم MobileNet على Crops من الـGround Truth. في التشغيل: YOLO يعطي الـBoxes وMobileNet يصنف كل Box.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4892040"/>
            <a:ext cx="104241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الـ+10% Context مهمة: لا نقص المرجانة فقط؛ نأخذ حولها سياق بسيط حتى يرى الـClassifier الشكل والحدود بشكل أوضح.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 AI •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— دوره في النظام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لا يعرف نوع المرجانة؛ وظيفته تحديد المكان فقط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091A2A"/>
          </a:solidFill>
          <a:ln w="15240">
            <a:solidFill>
              <a:srgbClr val="4DE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2529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صورة أو Frame  →  Output: Bounding Boxes حول target_coral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965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391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32688" y="2386584"/>
            <a:ext cx="252374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Underwater image / video frame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86200" y="2267712"/>
            <a:ext cx="685800" cy="59436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965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0391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2386584"/>
            <a:ext cx="252374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 Stage 3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class: target_coral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63840" y="2267712"/>
            <a:ext cx="685800" cy="59436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196596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87968" y="203911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87968" y="2386584"/>
            <a:ext cx="23865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x1, y1, x2, y2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detection confidence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440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mAP@50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180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97180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mAP@50:95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02920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08660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08660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0.350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14400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Conf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 AI •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تطورات YOLO — ما الذي أضفناه؟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التحسين لم يكن رقم Epochs فقط؛ كان تحليل أخطاء ثم تدريب موجه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019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249424"/>
            <a:ext cx="18836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 أولي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كشف عام للشعاب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71800" y="2148840"/>
            <a:ext cx="502920" cy="50292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82880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19019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67328" y="2249424"/>
            <a:ext cx="18836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أعلى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Underwater Augmentation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2148840"/>
            <a:ext cx="502920" cy="50292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182880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19019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84848" y="2249424"/>
            <a:ext cx="18836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/ Crowded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Sliced Fine-tune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06840" y="2148840"/>
            <a:ext cx="502920" cy="502920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18288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02368" y="190195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02368" y="2249424"/>
            <a:ext cx="16093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sweep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Error analysis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370332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الإضافات المهمة في Stage 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4165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Coral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" y="4764024"/>
            <a:ext cx="20665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شرائح موجهة للكائنات الصغيرة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74720" y="43434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44165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Crowded Scenes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84448" y="4764024"/>
            <a:ext cx="20665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تركيز على الصور المتداخلة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43434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44165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44768" y="4764024"/>
            <a:ext cx="20665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Low-IoU و FN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595360" y="43434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05088" y="4416552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05088" y="4764024"/>
            <a:ext cx="20665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confidence حسب F1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YOLO Stage 3 أفضل توازن حاليًا، لكن ما زال الاختناق الأكبر في small/crowded coral.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 AI • 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 — دوره في النظام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 لا يبحث في الصورة كلها؛ هو يرى Crop من YOLO ويحدد النوع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091A2A"/>
          </a:solidFill>
          <a:ln w="15240">
            <a:solidFill>
              <a:srgbClr val="4DE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25296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Crop من Bounding Box + 10% Context  →  Output: نوع المرجانة من 6 Classes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94767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Crop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2295144"/>
            <a:ext cx="22951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BBox من YOLO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Context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1880" y="2194560"/>
            <a:ext cx="640080" cy="54864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8745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194767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MobileNetV4 V3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36008" y="2295144"/>
            <a:ext cx="256946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288×288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model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35240" y="2194560"/>
            <a:ext cx="640080" cy="548640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187452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9368" y="194767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59368" y="2295144"/>
            <a:ext cx="26151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Name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class confidence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0584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Accuracy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4612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Macro-F1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0.898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2668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72668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Macro-F1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966960" y="406908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966960" y="4599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Sarcophyton F1 Test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 AI • 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تطورات MobileNet — ما الذي حسن النتيجة؟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أكبر قفزة جاءت من زيادة السياق وحفظ تفاصيل الـTexture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5EA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6479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5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112264"/>
            <a:ext cx="18379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224px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GT Crop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0.793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88920" y="1993392"/>
            <a:ext cx="457200" cy="50292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69164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76479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8728" y="2112264"/>
            <a:ext cx="18379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 Fine-tuning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منخفض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0.870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0" y="1993392"/>
            <a:ext cx="457200" cy="50292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691640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1764792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9088" y="2112264"/>
            <a:ext cx="18379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improvement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Sarcophyton/Sinularia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0.903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49640" y="1993392"/>
            <a:ext cx="457200" cy="502920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9720" y="169164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176479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Final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99448" y="2112264"/>
            <a:ext cx="22037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288px +10% Context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Mining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0.917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3703320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الإضافات النهائية في V3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05840" y="42519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32511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Context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15568" y="4672584"/>
            <a:ext cx="20208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رؤية حدود وشكل المرجانة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520440" y="42519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432511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288px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30168" y="4672584"/>
            <a:ext cx="20208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أكثر من 224px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35040" y="42519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432511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Mining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44768" y="4672584"/>
            <a:ext cx="20208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إعادة وزن الأخطاء الصعبة فقط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549640" y="425196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59368" y="4325112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Texture-safe Aug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59368" y="4672584"/>
            <a:ext cx="20208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بدون Blur/ضغط قوي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5669280"/>
            <a:ext cx="10424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450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الخلاصة: الـClassifier أصبح قويًا؛ لذلك أي فقد في End-to-End غالبًا يأتي من Detection قبل التصنيف.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 AI • 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+ MobileNet معًا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هنا تظهر نتيجة الـPipeline الكاملة، وليس كل موديل وحده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76479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Stage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112264"/>
            <a:ext cx="17465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Coral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+ Conf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80360" y="1947672"/>
            <a:ext cx="530352" cy="530352"/>
          </a:xfrm>
          <a:prstGeom prst="rightArrow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176479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Context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21608" y="2112264"/>
            <a:ext cx="17465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around Box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06440" y="1947672"/>
            <a:ext cx="530352" cy="530352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176479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 V3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47688" y="2112264"/>
            <a:ext cx="17465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+ Conf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32520" y="1947672"/>
            <a:ext cx="530352" cy="530352"/>
          </a:xfrm>
          <a:prstGeom prst="rightArrow">
            <a:avLst/>
          </a:prstGeom>
          <a:solidFill>
            <a:srgbClr val="FF7BBF">
              <a:alpha val="90000"/>
            </a:srgbClr>
          </a:solidFill>
          <a:ln w="12700">
            <a:solidFill>
              <a:srgbClr val="FF7BBF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64040" y="16916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176479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73768" y="2112264"/>
            <a:ext cx="17465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+ Species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05840" y="370332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0B1929"/>
          </a:solidFill>
          <a:ln w="15240">
            <a:solidFill>
              <a:srgbClr val="74F2A8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77647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End-to-End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51560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 / 354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520440" y="370332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0B1929"/>
          </a:solidFill>
          <a:ln w="15240">
            <a:solidFill>
              <a:srgbClr val="4DEBFF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93592" y="377647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Species F1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0.709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035040" y="370332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0B1929"/>
          </a:solidFill>
          <a:ln w="1524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377647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on Matched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0.941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549640" y="370332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0B1929"/>
          </a:solidFill>
          <a:ln w="15240">
            <a:solidFill>
              <a:srgbClr val="FF7BBF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22792" y="377647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 Recall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595360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68680" y="5074920"/>
            <a:ext cx="104698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تفسير النتيجة: إذا YOLO وجد المرجانة، MobileNet غالبًا يصنفها بشكل جيد. لذلك تحسين الـDetector هو الطريق الأسرع لرفع الـEnd-to-End.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 AI • 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Inference — من V1 إلى V2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عالجنا مشكلة أن البوكس يختفي ويرجع أو الاسم يتغير بين الفريمات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64592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FF7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7190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066544"/>
            <a:ext cx="21579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Frame-by-frame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بدون ذاكرة زمنية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548640" cy="548640"/>
          </a:xfrm>
          <a:prstGeom prst="rightArrow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6459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17190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70248" y="2066544"/>
            <a:ext cx="22494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Flicker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Flicker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1965960"/>
            <a:ext cx="548640" cy="548640"/>
          </a:xfrm>
          <a:prstGeom prst="rightArrow">
            <a:avLst/>
          </a:prstGeom>
          <a:solidFill>
            <a:srgbClr val="74F2A8">
              <a:alpha val="90000"/>
            </a:srgbClr>
          </a:solidFill>
          <a:ln w="12700">
            <a:solidFill>
              <a:srgbClr val="74F2A8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164592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6408" y="1719072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36408" y="2066544"/>
            <a:ext cx="27523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+ Smoothing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video output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333756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إضافات V2 للفيديو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8680" y="3977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05079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BoT-SORT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8408" y="4398264"/>
            <a:ext cx="192938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ID لكل مرجانة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91840" y="3977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405079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BBox EMA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01568" y="4398264"/>
            <a:ext cx="192938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تثبيت حركة المربع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15000" y="3977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0243A"/>
          </a:solidFill>
          <a:ln w="17780">
            <a:solidFill>
              <a:srgbClr val="FF7B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24728" y="405079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7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EMA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24728" y="4398264"/>
            <a:ext cx="192938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تثبيت اسم النوع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3977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4050792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Hold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47888" y="4398264"/>
            <a:ext cx="192938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يمسك البوكس 1–2 فريم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561320" y="3977640"/>
            <a:ext cx="914400" cy="960120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71048" y="4050792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HQ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71048" y="4398264"/>
            <a:ext cx="69494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H.264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45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وأضفنا Unknown / Uncertain Coral عندما تكون ثقة الـClassifier ضعيفة أو الفرق بين Top-1 وTop-2 صغير.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 AI •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E"/>
          </a:solidFill>
          <a:ln w="12700">
            <a:solidFill>
              <a:srgbClr val="0611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74F2A8">
              <a:alpha val="80000"/>
            </a:srgbClr>
          </a:solidFill>
          <a:ln w="12700">
            <a:solidFill>
              <a:srgbClr val="74F2A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37744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 + Next Experiments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النسخة الحالية تعمل، والتجارب القادمة هدفها رفع سقف الدقة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7780">
            <a:solidFill>
              <a:srgbClr val="74F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733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74F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020824"/>
            <a:ext cx="26609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 Stage 3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MobileNetV4 V3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Video V2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86200" y="1965960"/>
            <a:ext cx="594360" cy="548640"/>
          </a:xfrm>
          <a:prstGeom prst="rightArrow">
            <a:avLst/>
          </a:prstGeom>
          <a:solidFill>
            <a:srgbClr val="4DEBFF">
              <a:alpha val="90000"/>
            </a:srgbClr>
          </a:solidFill>
          <a:ln w="12700">
            <a:solidFill>
              <a:srgbClr val="4DEBFF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60020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7780">
            <a:solidFill>
              <a:srgbClr val="4DE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6733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4DE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Candidate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2020824"/>
            <a:ext cx="26609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RF-DETR Large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ConvNeXt-Small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1965960"/>
            <a:ext cx="594360" cy="548640"/>
          </a:xfrm>
          <a:prstGeom prst="rightArrow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0" y="16002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0243A"/>
          </a:solidFill>
          <a:ln w="1778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87968" y="167335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Candidate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87968" y="2020824"/>
            <a:ext cx="23865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YOLO26m</a:t>
            </a:r>
            <a:endParaRPr lang="en-US" sz="1150" dirty="0"/>
          </a:p>
          <a:p>
            <a:pPr rtl="1"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EfficientNetV2-S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104241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هدف المقارنة القادمة: نعرف هل التحسن سيأتي من Detector أكبر، Classifier أكبر، أم من الجمع بين أفضل Detector وأفضل Classifier.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51560" y="4663440"/>
            <a:ext cx="2377440" cy="868680"/>
          </a:xfrm>
          <a:prstGeom prst="roundRect">
            <a:avLst>
              <a:gd name="adj" fmla="val 5263"/>
            </a:avLst>
          </a:prstGeom>
          <a:solidFill>
            <a:srgbClr val="0B1929"/>
          </a:solidFill>
          <a:ln w="15240">
            <a:solidFill>
              <a:srgbClr val="FF7BB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473659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bottleneck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5001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Small/Crowded Coral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794760" y="4663440"/>
            <a:ext cx="2377440" cy="868680"/>
          </a:xfrm>
          <a:prstGeom prst="roundRect">
            <a:avLst>
              <a:gd name="adj" fmla="val 5263"/>
            </a:avLst>
          </a:prstGeom>
          <a:solidFill>
            <a:srgbClr val="0B1929"/>
          </a:solidFill>
          <a:ln w="15240">
            <a:solidFill>
              <a:srgbClr val="74F2A8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67912" y="473659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status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0" y="5001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enough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37960" y="4663440"/>
            <a:ext cx="2377440" cy="868680"/>
          </a:xfrm>
          <a:prstGeom prst="roundRect">
            <a:avLst>
              <a:gd name="adj" fmla="val 5263"/>
            </a:avLst>
          </a:prstGeom>
          <a:solidFill>
            <a:srgbClr val="0B1929"/>
          </a:solidFill>
          <a:ln w="15240">
            <a:solidFill>
              <a:srgbClr val="4DEBFF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473659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status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83680" y="5001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V2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281160" y="4663440"/>
            <a:ext cx="1874520" cy="868680"/>
          </a:xfrm>
          <a:prstGeom prst="roundRect">
            <a:avLst>
              <a:gd name="adj" fmla="val 5263"/>
            </a:avLst>
          </a:prstGeom>
          <a:solidFill>
            <a:srgbClr val="0B1929"/>
          </a:solidFill>
          <a:ln w="1524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4736592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dirty="0">
                <a:solidFill>
                  <a:srgbClr val="B8C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goal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26880" y="50017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E2E F1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02920" y="6565392"/>
            <a:ext cx="11201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Reef AI • 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Coral Reef AI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Coral Reef AI — YOLO + MobileNet Pipeline</dc:title>
  <dc:subject>Coral detection and classification pipeline</dc:subject>
  <dc:creator>OpenAI</dc:creator>
  <cp:lastModifiedBy>OpenAI</cp:lastModifiedBy>
  <cp:revision>1</cp:revision>
  <dcterms:created xsi:type="dcterms:W3CDTF">2026-08-11T04:00:02Z</dcterms:created>
  <dcterms:modified xsi:type="dcterms:W3CDTF">2026-08-11T04:00:02Z</dcterms:modified>
</cp:coreProperties>
</file>
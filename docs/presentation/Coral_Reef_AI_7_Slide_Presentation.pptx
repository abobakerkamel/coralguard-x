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D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Coral Reef AI Detection &amp; Classification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126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8C5D5"/>
                </a:solidFill>
              </a:rPr>
              <a:t>An end-to-end computer vision system that detects coral colonies in underwater images/videos, classifies the species, and produces stable annotated video output.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1417320" cy="292608"/>
          </a:xfrm>
          <a:prstGeom prst="rect">
            <a:avLst/>
          </a:prstGeom>
          <a:solidFill>
            <a:srgbClr val="0E2C41"/>
          </a:solidFill>
          <a:ln w="12700">
            <a:solidFill>
              <a:srgbClr val="25D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D6FF"/>
                </a:solidFill>
              </a:rPr>
              <a:t>Detection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0"/>
            <a:ext cx="1508760" cy="292608"/>
          </a:xfrm>
          <a:prstGeom prst="rect">
            <a:avLst/>
          </a:prstGeom>
          <a:solidFill>
            <a:srgbClr val="0C342E"/>
          </a:solidFill>
          <a:ln w="12700">
            <a:solidFill>
              <a:srgbClr val="37E89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E89D"/>
                </a:solidFill>
              </a:rPr>
              <a:t>Species 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49040" y="2743200"/>
            <a:ext cx="1828800" cy="292608"/>
          </a:xfrm>
          <a:prstGeom prst="rect">
            <a:avLst/>
          </a:prstGeom>
          <a:solidFill>
            <a:srgbClr val="3B3311"/>
          </a:solidFill>
          <a:ln w="12700">
            <a:solidFill>
              <a:srgbClr val="F9D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D66E"/>
                </a:solidFill>
              </a:rPr>
              <a:t>Video Stability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0" y="2743200"/>
            <a:ext cx="1783080" cy="292608"/>
          </a:xfrm>
          <a:prstGeom prst="rect">
            <a:avLst/>
          </a:prstGeom>
          <a:solidFill>
            <a:srgbClr val="351529"/>
          </a:solidFill>
          <a:ln w="12700">
            <a:solidFill>
              <a:srgbClr val="FF86C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6C8"/>
                </a:solidFill>
              </a:rPr>
              <a:t>Real-time Goal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325880" cy="749808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DA9F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Underwater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Image / Video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3886200"/>
            <a:ext cx="1234440" cy="749808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25D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Coral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Boxes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3886200"/>
            <a:ext cx="1234440" cy="749808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Precise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Mask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3886200"/>
            <a:ext cx="1508760" cy="749808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9D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Species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Confidence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3886200"/>
            <a:ext cx="1325880" cy="749808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F8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Annotated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Video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29968" y="4261104"/>
            <a:ext cx="530352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58768" y="4261104"/>
            <a:ext cx="530352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87568" y="4261104"/>
            <a:ext cx="530352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90688" y="4261104"/>
            <a:ext cx="438912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50392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15544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F61"/>
                </a:solidFill>
              </a:rPr>
              <a:t>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50808" y="1545336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Manual reef review is slow and inconsistent.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49640" y="2148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F61"/>
                </a:solidFill>
              </a:rPr>
              <a:t>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50808" y="2139696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Underwater video needs temporal stability, not frame-level flicker.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F61"/>
                </a:solidFill>
              </a:rPr>
              <a:t>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50808" y="2779776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Species-level outputs support monitoring and reporting.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1/7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Three-source data strategy: detection, classification, and video validation.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Current data streams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057400" cy="1143000"/>
          </a:xfrm>
          <a:prstGeom prst="roundRect">
            <a:avLst/>
          </a:prstGeom>
          <a:solidFill>
            <a:srgbClr val="122B3B"/>
          </a:solidFill>
          <a:ln w="15240">
            <a:solidFill>
              <a:srgbClr val="25D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Detection Dataset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Images + JSON Boxes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800" y="1783080"/>
            <a:ext cx="2057400" cy="1143000"/>
          </a:xfrm>
          <a:prstGeom prst="roundRect">
            <a:avLst/>
          </a:prstGeom>
          <a:solidFill>
            <a:srgbClr val="122B3B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Classification Dataset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Species Crops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49240" y="1783080"/>
            <a:ext cx="2057400" cy="1143000"/>
          </a:xfrm>
          <a:prstGeom prst="roundRect">
            <a:avLst/>
          </a:prstGeom>
          <a:solidFill>
            <a:srgbClr val="122B3B"/>
          </a:solidFill>
          <a:ln w="15240">
            <a:solidFill>
              <a:srgbClr val="F9D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Underwater Videos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BFF"/>
                </a:solidFill>
              </a:rPr>
              <a:t>End-to-End Demo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88336" y="2350008"/>
            <a:ext cx="219456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2350008"/>
            <a:ext cx="210312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" y="3410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</a:rPr>
              <a:t>Verified local split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822192"/>
            <a:ext cx="12801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D6FF"/>
                </a:solidFill>
              </a:rPr>
              <a:t>452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4261104"/>
            <a:ext cx="12801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Train images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7E89D"/>
                </a:solidFill>
              </a:rPr>
              <a:t>1,540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Train boxes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3822192"/>
            <a:ext cx="14630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D66E"/>
                </a:solidFill>
              </a:rPr>
              <a:t>100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11880" y="4261104"/>
            <a:ext cx="1463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Validation images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6636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86C8"/>
                </a:solidFill>
              </a:rPr>
              <a:t>354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6636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Validation boxes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5760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C5D5"/>
                </a:solidFill>
              </a:rPr>
              <a:t>Held-out test data is preserved for final evaluation; it is not used for tuning.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5046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F61"/>
                </a:solidFill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5495544"/>
            <a:ext cx="6126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Core risk: taxonomy mismatch between detection labels and classification labels.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8704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F61"/>
                </a:solidFill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" y="5861304"/>
            <a:ext cx="6126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Data audit focuses on leakage, duplicates, lighting, turbidity, distance, crowding and visibility.</a:t>
            </a:r>
            <a:endParaRPr lang="en-US" sz="1200" dirty="0"/>
          </a:p>
        </p:txBody>
      </p:sp>
      <p:pic>
        <p:nvPicPr>
          <p:cNvPr id="25" name="Image 0" descr="/mnt/data/213d8a75-e068-4157-ad63-2dc61cd3f0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376245"/>
            <a:ext cx="3977640" cy="224266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818120" y="5925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Annotation QC pilot examples: crowded scenes, multi-species boxes, and visibility variation.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2/7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Evidence-driven development: isolate the failure source before changing the model.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25D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1. Audit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data quality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+ leakage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12848" y="1865376"/>
            <a:ext cx="137160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395728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2. Train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detector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+ classifier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05656" y="1865376"/>
            <a:ext cx="137160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88536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9D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3. Evaluate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per-class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+ per-condition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98464" y="1865376"/>
            <a:ext cx="137160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81344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F8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4. Integrate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boxes → masks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→ species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91272" y="1865376"/>
            <a:ext cx="137160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74152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DA9F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5. Video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stability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+ latency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784080" y="1865376"/>
            <a:ext cx="137160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966960" y="1417320"/>
            <a:ext cx="1691640" cy="89611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F6F6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6. Improve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fix measured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weakness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Method logic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2644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D6FF"/>
                </a:solidFill>
              </a:rPr>
              <a:t>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8408" y="3255264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Detector answers: where is the coral?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E89D"/>
                </a:solidFill>
              </a:rPr>
              <a:t>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8408" y="3694176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Classifier answers: what species is the coral?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1422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D66E"/>
                </a:solidFill>
              </a:rPr>
              <a:t>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8408" y="4133088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Masks clean the crop before classification.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5811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86C8"/>
                </a:solidFill>
              </a:rPr>
              <a:t>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8408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BFF"/>
                </a:solidFill>
              </a:rPr>
              <a:t>SAM2 handles temporal propagation across video.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Quality gates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6FF"/>
                </a:solidFill>
              </a:rPr>
              <a:t>No leakage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C5D5"/>
                </a:solidFill>
              </a:rPr>
              <a:t>split by source/video when possible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904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E89D"/>
                </a:solidFill>
              </a:rPr>
              <a:t>Realistic crops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3904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C5D5"/>
                </a:solidFill>
              </a:rPr>
              <a:t>+10% context and detector-like errors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4562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D66E"/>
                </a:solidFill>
              </a:rPr>
              <a:t>Unknown policy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562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C5D5"/>
                </a:solidFill>
              </a:rPr>
              <a:t>avoid forced species when confidence is 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221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6C8"/>
                </a:solidFill>
              </a:rPr>
              <a:t>Video metrics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5221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C5D5"/>
                </a:solidFill>
              </a:rPr>
              <a:t>flicker, latency, tracks, masks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3/7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Final accuracy-first architecture selected from the experiments and troubleshooting.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BFF"/>
                </a:solidFill>
              </a:rPr>
              <a:t>Main path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645920" cy="80467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25D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YOLO26m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Detector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D5"/>
                </a:solidFill>
              </a:rPr>
              <a:t>Strong candidate boxes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76856" y="2276856"/>
            <a:ext cx="475488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34640" y="1874520"/>
            <a:ext cx="1645920" cy="80467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CoralSCOP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Box Prompt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D5"/>
                </a:solidFill>
              </a:rPr>
              <a:t>Precise instance masks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17136" y="2276856"/>
            <a:ext cx="475488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74920" y="1874520"/>
            <a:ext cx="1645920" cy="80467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9D6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Duplicate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Resolver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D5"/>
                </a:solidFill>
              </a:rPr>
              <a:t>Remove overlap fragments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57416" y="2276856"/>
            <a:ext cx="475488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0" y="1874520"/>
            <a:ext cx="1645920" cy="80467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FF8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Dual-View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EffNetV2-S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7804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D5"/>
                </a:solidFill>
              </a:rPr>
              <a:t>Masked + context crop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97696" y="2276856"/>
            <a:ext cx="475488" cy="0"/>
          </a:xfrm>
          <a:prstGeom prst="line">
            <a:avLst/>
          </a:prstGeom>
          <a:noFill/>
          <a:ln w="22860">
            <a:solidFill>
              <a:srgbClr val="A8C5D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555480" y="1874520"/>
            <a:ext cx="1645920" cy="804672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DA9F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SAM2.1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Video Memory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5D5"/>
                </a:solidFill>
              </a:rPr>
              <a:t>Temporal stability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Why this stack?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D6FF"/>
                </a:solidFill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4288536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Old YOLO26m remains the stronger detector on original GT boxes.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89D"/>
                </a:solidFill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4700016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CoralSCOP produces higher-quality masks than forcing the student segmenter to be the primary detector.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20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D66E"/>
                </a:solidFill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5111496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Dual-view classification reduces background contamination: masked coral + 10% context.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6C8"/>
                </a:solidFill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5522976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YOLO26m-SEG Student is kept as fast/backup mode, not the main accuracy-first path.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Deprecated path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60920" y="4343400"/>
            <a:ext cx="1965960" cy="841248"/>
          </a:xfrm>
          <a:prstGeom prst="roundRect">
            <a:avLst/>
          </a:prstGeom>
          <a:solidFill>
            <a:srgbClr val="2A1830"/>
          </a:solidFill>
          <a:ln w="15240">
            <a:solidFill>
              <a:srgbClr val="FF86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YOLO26m-SEG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as Primary Detector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64040" y="4754880"/>
            <a:ext cx="640080" cy="0"/>
          </a:xfrm>
          <a:prstGeom prst="line">
            <a:avLst/>
          </a:prstGeom>
          <a:noFill/>
          <a:ln w="22860">
            <a:solidFill>
              <a:srgbClr val="FF6F61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149840" y="4343400"/>
            <a:ext cx="1417320" cy="841248"/>
          </a:xfrm>
          <a:prstGeom prst="roundRect">
            <a:avLst/>
          </a:prstGeom>
          <a:solidFill>
            <a:srgbClr val="1B2E24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Kept 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</a:rPr>
              <a:t>Fast / Backup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6092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Reason: it learned useful masks, but original-GT detector F1 was lower than the older YOLO26m operating point.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4/7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Measured milestones from detector, classifier, integrated baseline, and segmentation student.</a:t>
            </a:r>
            <a:endParaRPr lang="en-US" sz="1050" dirty="0"/>
          </a:p>
        </p:txBody>
      </p:sp>
      <p:pic>
        <p:nvPicPr>
          <p:cNvPr id="5" name="Image 0" descr="/mnt/data/Coral_Project_Stage3_MobileNetV4_Evalu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71279"/>
            <a:ext cx="5806440" cy="3655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49377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Stage 3 evaluation matrix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Headline metrics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D6FF"/>
                </a:solidFill>
              </a:rPr>
              <a:t>79.3%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Detection mAP@50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88920" y="1783080"/>
            <a:ext cx="2148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7E89D"/>
                </a:solidFill>
              </a:rPr>
              <a:t>90.1%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788920" y="2221992"/>
            <a:ext cx="2148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Classifier validation accuracy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2761488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D66E"/>
                </a:solidFill>
              </a:rPr>
              <a:t>70.9%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Baseline end-to-end species F1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761488"/>
            <a:ext cx="2194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86C8"/>
                </a:solidFill>
              </a:rPr>
              <a:t>239 / 354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4612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Correct end-to-end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</a:rPr>
              <a:t>Segmentation student validation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4315968"/>
            <a:ext cx="49377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C5D5"/>
                </a:solidFill>
              </a:rPr>
              <a:t>Box mAP50-95 0.641  •  Mask mAP50-95 0.591  •  Original-GT F1 0.731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685800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5376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D6FF"/>
                </a:solidFill>
              </a:rPr>
              <a:t>•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78408" y="5367528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BFF"/>
                </a:solidFill>
              </a:rPr>
              <a:t>Detector-only performance still favors the older YOLO26m path.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" y="5742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E89D"/>
                </a:solidFill>
              </a:rPr>
              <a:t>•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78408" y="5733288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BFF"/>
                </a:solidFill>
              </a:rPr>
              <a:t>CoralSCOP masks are prioritized for accuracy-first video output.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5/7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Application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From research notebook to field-ready coral monitoring workflow.</a:t>
            </a:r>
            <a:endParaRPr lang="en-US" sz="1050" dirty="0"/>
          </a:p>
        </p:txBody>
      </p:sp>
      <p:pic>
        <p:nvPicPr>
          <p:cNvPr id="5" name="Image 0" descr="/mnt/data/46aca9aa-a32c-45e5-8ed6-636af5b86f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2238772"/>
            <a:ext cx="5669280" cy="2334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5733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Annotated video demo: coral IDs, species labels, confidence, and unknown handling.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Deployment use cases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6FF"/>
                </a:solidFill>
              </a:rPr>
              <a:t>Marine survey review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075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C5D5"/>
                </a:solidFill>
              </a:rPr>
              <a:t>speed up annotation of long underwater videos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2679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E89D"/>
                </a:solidFill>
              </a:rPr>
              <a:t>Biodiversity tracking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C5D5"/>
                </a:solidFill>
              </a:rPr>
              <a:t>count colonies and species over time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3575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D66E"/>
                </a:solidFill>
              </a:rPr>
              <a:t>ROV / aquarium inspection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867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C5D5"/>
                </a:solidFill>
              </a:rPr>
              <a:t>near-real-time overlays for operators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" y="44714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6C8"/>
                </a:solidFill>
              </a:rPr>
              <a:t>Research reporting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47640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C5D5"/>
                </a:solidFill>
              </a:rPr>
              <a:t>export metrics, failure cases and annotated clips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5486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</a:rPr>
              <a:t>Operational output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5806440"/>
            <a:ext cx="4846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C5D5"/>
                </a:solidFill>
              </a:rPr>
              <a:t>Annotated MP4 + per-video JSON/CSV summary: tracks, masks, labels, latency and flicker diagnostics.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6/7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 &amp; Next Steps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2011680" cy="0"/>
          </a:xfrm>
          <a:prstGeom prst="line">
            <a:avLst/>
          </a:prstGeom>
          <a:noFill/>
          <a:ln w="27940">
            <a:solidFill>
              <a:srgbClr val="25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5D5"/>
                </a:solidFill>
              </a:rPr>
              <a:t>What is working, what is pending, and what should be improved next.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E89D"/>
                </a:solidFill>
              </a:rPr>
              <a:t>Working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89D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773936"/>
            <a:ext cx="4846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Local Windows environment on RTX A6000 with CUDA is verified.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89D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167128"/>
            <a:ext cx="4846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YOLO26m detector and CoralSCOP teacher are integrated.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69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89D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Dual-view EfficientNetV2-S training and resume path exist.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626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89D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953512"/>
            <a:ext cx="4846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F"/>
                </a:solidFill>
              </a:rPr>
              <a:t>Accuracy-first video seed pass is operational.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D66E"/>
                </a:solidFill>
              </a:rPr>
              <a:t>Needs improvement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133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9D66E"/>
                </a:solidFill>
              </a:rPr>
              <a:t>•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932688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4FBFF"/>
                </a:solidFill>
              </a:rPr>
              <a:t>Adaptive CoralSCOP refresh: run only on new/uncertain objects, not every keyframe candidate.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9D66E"/>
                </a:solidFill>
              </a:rPr>
              <a:t>•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932688" y="4517136"/>
            <a:ext cx="5120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4FBFF"/>
                </a:solidFill>
              </a:rPr>
              <a:t>Track fragmentation control before SAM2 to avoid too many object IDs.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31520" y="49194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9D66E"/>
                </a:solidFill>
              </a:rPr>
              <a:t>•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932688" y="4910328"/>
            <a:ext cx="5120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4FBFF"/>
                </a:solidFill>
              </a:rPr>
              <a:t>Final unseen test set and per-condition reporting are still pending.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BFF"/>
                </a:solidFill>
              </a:rPr>
              <a:t>Doctor demo output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1856232"/>
            <a:ext cx="1874520" cy="822960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25D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Quick demo mode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coral_1.mp4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58200" y="2267712"/>
            <a:ext cx="731520" cy="0"/>
          </a:xfrm>
          <a:prstGeom prst="line">
            <a:avLst/>
          </a:prstGeom>
          <a:noFill/>
          <a:ln w="22860">
            <a:solidFill>
              <a:srgbClr val="25D6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235440" y="1856232"/>
            <a:ext cx="1920240" cy="822960"/>
          </a:xfrm>
          <a:prstGeom prst="roundRect">
            <a:avLst/>
          </a:prstGeom>
          <a:solidFill>
            <a:srgbClr val="102F44"/>
          </a:solidFill>
          <a:ln w="15240">
            <a:solidFill>
              <a:srgbClr val="37E89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Top stable tracks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BFF"/>
                </a:solidFill>
              </a:rPr>
              <a:t>+ faster encoding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BFF"/>
                </a:solidFill>
              </a:rPr>
              <a:t>Expected file path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537960" y="3456432"/>
            <a:ext cx="4937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E6FF"/>
                </a:solidFill>
              </a:rPr>
              <a:t>D:\Coral_Local_Workspace\outputs\CoralGuard_X_ACCURACY_FIRST\06_Final_Videos\coral_1\coral_1_ACCURACY_FIRST_FINAL.mp4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BFF"/>
                </a:solidFill>
              </a:rPr>
              <a:t>Next experiment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537960" y="5138928"/>
            <a:ext cx="4754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C5D5"/>
                </a:solidFill>
              </a:rPr>
              <a:t>Compare accuracy-first video versus fast YOLO26m-SEG mode on the same video, then decide the final speed/accuracy operating mode.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A9BA"/>
                </a:solidFill>
              </a:rPr>
              <a:t>Coral Reef AI • 7/7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Coral Reef AI — Detection, Classification &amp; Video Inference</dc:title>
  <dc:subject>Coral Reef AI Project</dc:subject>
  <dc:creator>OpenAI</dc:creator>
  <cp:lastModifiedBy>OpenAI</cp:lastModifiedBy>
  <cp:revision>1</cp:revision>
  <dcterms:created xsi:type="dcterms:W3CDTF">2026-09-29T09:44:26Z</dcterms:created>
  <dcterms:modified xsi:type="dcterms:W3CDTF">2026-09-29T09:44:26Z</dcterms:modified>
</cp:coreProperties>
</file>
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566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400" b="1">
                <a:solidFill>
                  <a:srgbClr val="4DEBFF"/>
                </a:solidFill>
                <a:latin typeface="Arial"/>
              </a:rPr>
              <a:t>Coral Reef AI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10241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900">
                <a:solidFill>
                  <a:srgbClr val="F8FAFC"/>
                </a:solidFill>
                <a:latin typeface="Arial"/>
              </a:rPr>
              <a:t>Detection + Classification Pipeline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1490472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solidFill>
                  <a:srgbClr val="74F2A8"/>
                </a:solidFill>
                <a:latin typeface="Arial"/>
              </a:rPr>
              <a:t>YOLO Stage 3  →  MobileNetV4 V3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1700">
                <a:solidFill>
                  <a:srgbClr val="F8FAFC"/>
                </a:solidFill>
                <a:latin typeface="Arial"/>
              </a:rPr>
              <a:t>A simplified overview of what was implemented: problem, inputs, outputs, pipeline, and YOLO / MobileNet evolution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31546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78408" y="322783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5EA8FF"/>
                </a:solidFill>
                <a:latin typeface="Arial"/>
              </a:rPr>
              <a:t>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3575304"/>
            <a:ext cx="18379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Underwater images / video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63240" y="3364992"/>
            <a:ext cx="594360" cy="59436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794760" y="31546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904488" y="322783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4DEBFF"/>
                </a:solidFill>
                <a:latin typeface="Arial"/>
              </a:rPr>
              <a:t>YOLO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04488" y="3575304"/>
            <a:ext cx="18379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Detects coral locations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3364992"/>
            <a:ext cx="594360" cy="59436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720840" y="31546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30568" y="322783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MobileNet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30568" y="3575304"/>
            <a:ext cx="18379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Classifies coral species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15400" y="3364992"/>
            <a:ext cx="594360" cy="594360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646920" y="31546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756648" y="32278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7BBF"/>
                </a:solidFill>
                <a:latin typeface="Arial"/>
              </a:rPr>
              <a:t>Output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56648" y="3575304"/>
            <a:ext cx="17007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Annotated video + results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850">
                <a:solidFill>
                  <a:srgbClr val="7C8DA3"/>
                </a:solidFill>
                <a:latin typeface="Arial"/>
              </a:rPr>
              <a:t>Coral Reef AI •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2700" b="1">
                <a:solidFill>
                  <a:srgbClr val="F8FAFC"/>
                </a:solidFill>
                <a:latin typeface="Arial"/>
              </a:rPr>
              <a:t>Define Problem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1350">
                <a:solidFill>
                  <a:srgbClr val="B8C7D9"/>
                </a:solidFill>
                <a:latin typeface="Arial"/>
              </a:rPr>
              <a:t>The goal is not only to see coral, but to locate it and classify its species in underwater images and videos.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091A2A"/>
          </a:solidFill>
          <a:ln w="1524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22529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300">
                <a:solidFill>
                  <a:srgbClr val="F8FAFC"/>
                </a:solidFill>
                <a:latin typeface="Arial"/>
              </a:rPr>
              <a:t>The system must solve two sequential tasks: Where is the coral? Then, what species is it?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95528" y="213055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4DEBFF"/>
                </a:solidFill>
                <a:latin typeface="Arial"/>
              </a:rPr>
              <a:t>Detection Problem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478024"/>
            <a:ext cx="302666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Corals are small, crowded, and sometimes visually similar to the background.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2423160"/>
            <a:ext cx="658368" cy="566928"/>
          </a:xfrm>
          <a:prstGeom prst="rightArrow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983480" y="205740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93208" y="21305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Classification Problem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93208" y="2478024"/>
            <a:ext cx="26609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After detecting the box, we classify the coral into one of 6 species.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2423160"/>
            <a:ext cx="658368" cy="566928"/>
          </a:xfrm>
          <a:prstGeom prst="rightArrow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915400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025128" y="213055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7BBF"/>
                </a:solidFill>
                <a:latin typeface="Arial"/>
              </a:rPr>
              <a:t>Video Problem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25128" y="2478024"/>
            <a:ext cx="23865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Boxes and labels may flicker between video frames.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3977640"/>
            <a:ext cx="106984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700">
                <a:solidFill>
                  <a:srgbClr val="F8FAFC"/>
                </a:solidFill>
                <a:latin typeface="Arial"/>
              </a:rPr>
              <a:t>Key challenges: low light, water turbidity, small coral size, class similarity, and visual changes between still images and video frames.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88720" y="5230368"/>
            <a:ext cx="9784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550">
                <a:solidFill>
                  <a:srgbClr val="FFD166"/>
                </a:solidFill>
                <a:latin typeface="Arial"/>
              </a:rPr>
              <a:t>Key point: if the detector misses a coral, the classifier never sees it. The main bottleneck is detection, especially small/crowded coral.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850">
                <a:solidFill>
                  <a:srgbClr val="7C8DA3"/>
                </a:solidFill>
                <a:latin typeface="Arial"/>
              </a:rPr>
              <a:t>Coral Reef AI •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2700" b="1">
                <a:solidFill>
                  <a:srgbClr val="F8FAFC"/>
                </a:solidFill>
                <a:latin typeface="Arial"/>
              </a:rPr>
              <a:t>Input / Output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1350">
                <a:solidFill>
                  <a:srgbClr val="B8C7D9"/>
                </a:solidFill>
                <a:latin typeface="Arial"/>
              </a:rPr>
              <a:t>A simple engineering view of the system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" y="17647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5EA8FF"/>
                </a:solidFill>
                <a:latin typeface="Arial"/>
              </a:rPr>
              <a:t>Input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112264"/>
            <a:ext cx="26151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Underwater image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299923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5EA8FF"/>
                </a:solidFill>
                <a:latin typeface="Arial"/>
              </a:rPr>
              <a:t>Input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3346704"/>
            <a:ext cx="26151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Diver / camera video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0" y="2377440"/>
            <a:ext cx="777240" cy="68580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937760" y="16459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47488" y="171907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Model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47488" y="2066544"/>
            <a:ext cx="19751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Detection + Classification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52360" y="2377440"/>
            <a:ext cx="777240" cy="685800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458200" y="1298448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67928" y="1371600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4DEBFF"/>
                </a:solidFill>
                <a:latin typeface="Arial"/>
              </a:rPr>
              <a:t>Output 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67928" y="1719072"/>
            <a:ext cx="2752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Bounding boxes around coral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58200" y="23317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567928" y="240487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Output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67928" y="2752344"/>
            <a:ext cx="2752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Species name + confidence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58200" y="3364992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567928" y="3438144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7BBF"/>
                </a:solidFill>
                <a:latin typeface="Arial"/>
              </a:rPr>
              <a:t>Output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67928" y="3785616"/>
            <a:ext cx="2752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Annotated video + CSV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4709160"/>
            <a:ext cx="106070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800">
                <a:solidFill>
                  <a:srgbClr val="F8FAFC"/>
                </a:solidFill>
                <a:latin typeface="Arial"/>
              </a:rPr>
              <a:t>Final output: each coral has a box, species name, detector confidence, and classifier confidence.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850">
                <a:solidFill>
                  <a:srgbClr val="7C8DA3"/>
                </a:solidFill>
                <a:latin typeface="Arial"/>
              </a:rPr>
              <a:t>Coral Reef AI •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2700" b="1">
                <a:solidFill>
                  <a:srgbClr val="F8FAFC"/>
                </a:solidFill>
                <a:latin typeface="Arial"/>
              </a:rPr>
              <a:t>Pipeline — From Image to Decision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1350">
                <a:solidFill>
                  <a:srgbClr val="B8C7D9"/>
                </a:solidFill>
                <a:latin typeface="Arial"/>
              </a:rPr>
              <a:t>The same pipeline works on images and on every video frame.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12648" y="203911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2386584"/>
            <a:ext cx="13807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Frame / Image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67712" y="2194560"/>
            <a:ext cx="502920" cy="50292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944368" y="19659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54096" y="203911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54096" y="2386584"/>
            <a:ext cx="13807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YOLO Stage 3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Coral Box</a:t>
            </a:r>
          </a:p>
        </p:txBody>
      </p:sp>
      <p:sp>
        <p:nvSpPr>
          <p:cNvPr id="14" name="Shape 12"/>
          <p:cNvSpPr/>
          <p:nvPr/>
        </p:nvSpPr>
        <p:spPr>
          <a:xfrm>
            <a:off x="4709160" y="2194560"/>
            <a:ext cx="502920" cy="50292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394960" y="19659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504688" y="203911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04688" y="2386584"/>
            <a:ext cx="13807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+10% Context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Crop</a:t>
            </a:r>
          </a:p>
        </p:txBody>
      </p:sp>
      <p:sp>
        <p:nvSpPr>
          <p:cNvPr id="18" name="Shape 16"/>
          <p:cNvSpPr/>
          <p:nvPr/>
        </p:nvSpPr>
        <p:spPr>
          <a:xfrm>
            <a:off x="7159752" y="2194560"/>
            <a:ext cx="502920" cy="50292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45552" y="19659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55280" y="203911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0" y="2386584"/>
            <a:ext cx="13807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MobileNetV4 V3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Species</a:t>
            </a:r>
          </a:p>
        </p:txBody>
      </p:sp>
      <p:sp>
        <p:nvSpPr>
          <p:cNvPr id="22" name="Shape 20"/>
          <p:cNvSpPr/>
          <p:nvPr/>
        </p:nvSpPr>
        <p:spPr>
          <a:xfrm>
            <a:off x="9610344" y="2194560"/>
            <a:ext cx="502920" cy="502920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296144" y="196596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405872" y="203911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405872" y="2386584"/>
            <a:ext cx="1197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Output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Video/CSV</a:t>
            </a:r>
          </a:p>
        </p:txBody>
      </p:sp>
      <p:sp>
        <p:nvSpPr>
          <p:cNvPr id="26" name="Text 24"/>
          <p:cNvSpPr/>
          <p:nvPr/>
        </p:nvSpPr>
        <p:spPr>
          <a:xfrm>
            <a:off x="914400" y="3977640"/>
            <a:ext cx="10424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600">
                <a:solidFill>
                  <a:srgbClr val="F8FAFC"/>
                </a:solidFill>
                <a:latin typeface="Arial"/>
              </a:rPr>
              <a:t>During training, YOLO learns bounding boxes and MobileNet learns species from ground-truth crops. During inference, YOLO produces boxes and MobileNet classifies each box.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489204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600">
                <a:solidFill>
                  <a:srgbClr val="74F2A8"/>
                </a:solidFill>
                <a:latin typeface="Arial"/>
              </a:rPr>
              <a:t>+10% context is important: we do not crop only the coral; we include nearby context so the classifier can better see shape and boundaries.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850">
                <a:solidFill>
                  <a:srgbClr val="7C8DA3"/>
                </a:solidFill>
                <a:latin typeface="Arial"/>
              </a:rPr>
              <a:t>Coral Reef AI •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2700" b="1">
                <a:solidFill>
                  <a:srgbClr val="F8FAFC"/>
                </a:solidFill>
                <a:latin typeface="Arial"/>
              </a:rPr>
              <a:t>YOLO — Role in the System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1350">
                <a:solidFill>
                  <a:srgbClr val="B8C7D9"/>
                </a:solidFill>
                <a:latin typeface="Arial"/>
              </a:rPr>
              <a:t>YOLO does not classify species; its role is localization only.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091A2A"/>
          </a:solidFill>
          <a:ln w="1524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22529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300">
                <a:solidFill>
                  <a:srgbClr val="F8FAFC"/>
                </a:solidFill>
                <a:latin typeface="Arial"/>
              </a:rPr>
              <a:t>Input: image or video frame  →  Output: bounding boxes around target_coral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965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20391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5EA8FF"/>
                </a:solidFill>
                <a:latin typeface="Arial"/>
              </a:rPr>
              <a:t>YOLO 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386584"/>
            <a:ext cx="252374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Underwater image / video frame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86200" y="2267712"/>
            <a:ext cx="685800" cy="59436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800600" y="1965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10328" y="20391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4DEBFF"/>
                </a:solidFill>
                <a:latin typeface="Arial"/>
              </a:rPr>
              <a:t>YOLO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2386584"/>
            <a:ext cx="252374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YOLO11n Stage 3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Single class: target_coral</a:t>
            </a:r>
          </a:p>
        </p:txBody>
      </p:sp>
      <p:sp>
        <p:nvSpPr>
          <p:cNvPr id="16" name="Shape 14"/>
          <p:cNvSpPr/>
          <p:nvPr/>
        </p:nvSpPr>
        <p:spPr>
          <a:xfrm>
            <a:off x="7863840" y="2267712"/>
            <a:ext cx="685800" cy="59436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778240" y="196596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87968" y="20391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YOLO 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87968" y="2386584"/>
            <a:ext cx="23865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x1, y1, x2, y2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+ detection confidence</a:t>
            </a:r>
          </a:p>
        </p:txBody>
      </p:sp>
      <p:sp>
        <p:nvSpPr>
          <p:cNvPr id="20" name="Text 18"/>
          <p:cNvSpPr/>
          <p:nvPr/>
        </p:nvSpPr>
        <p:spPr>
          <a:xfrm>
            <a:off x="91440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440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050">
                <a:solidFill>
                  <a:srgbClr val="B8C7D9"/>
                </a:solidFill>
                <a:latin typeface="Arial"/>
              </a:rPr>
              <a:t>mAP@50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180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97180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050">
                <a:solidFill>
                  <a:srgbClr val="B8C7D9"/>
                </a:solidFill>
                <a:latin typeface="Arial"/>
              </a:rPr>
              <a:t>mAP@50:95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02920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050">
                <a:solidFill>
                  <a:srgbClr val="B8C7D9"/>
                </a:solidFill>
                <a:latin typeface="Arial"/>
              </a:rPr>
              <a:t>Precision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8660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08660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050">
                <a:solidFill>
                  <a:srgbClr val="B8C7D9"/>
                </a:solidFill>
                <a:latin typeface="Arial"/>
              </a:rPr>
              <a:t>Recall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0.350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14400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050">
                <a:solidFill>
                  <a:srgbClr val="B8C7D9"/>
                </a:solidFill>
                <a:latin typeface="Arial"/>
              </a:rPr>
              <a:t>Best Conf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850">
                <a:solidFill>
                  <a:srgbClr val="7C8DA3"/>
                </a:solidFill>
                <a:latin typeface="Arial"/>
              </a:rPr>
              <a:t>Coral Reef AI •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2700" b="1">
                <a:solidFill>
                  <a:srgbClr val="F8FAFC"/>
                </a:solidFill>
                <a:latin typeface="Arial"/>
              </a:rPr>
              <a:t>YOLO Evolution — What We Added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1350">
                <a:solidFill>
                  <a:srgbClr val="B8C7D9"/>
                </a:solidFill>
                <a:latin typeface="Arial"/>
              </a:rPr>
              <a:t>The improvement was not just more epochs; it came from error analysis followed by targeted training.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9019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5EA8FF"/>
                </a:solidFill>
                <a:latin typeface="Arial"/>
              </a:rPr>
              <a:t>Baseline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249424"/>
            <a:ext cx="18836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Initial YOLO11n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general coral detection</a:t>
            </a:r>
          </a:p>
        </p:txBody>
      </p:sp>
      <p:sp>
        <p:nvSpPr>
          <p:cNvPr id="10" name="Shape 8"/>
          <p:cNvSpPr/>
          <p:nvPr/>
        </p:nvSpPr>
        <p:spPr>
          <a:xfrm>
            <a:off x="2971800" y="2148840"/>
            <a:ext cx="502920" cy="50292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57600" y="182880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67328" y="19019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4DEBFF"/>
                </a:solidFill>
                <a:latin typeface="Arial"/>
              </a:rPr>
              <a:t>Stage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67328" y="2249424"/>
            <a:ext cx="18836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Higher resolution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+ underwater augmentation</a:t>
            </a:r>
          </a:p>
        </p:txBody>
      </p:sp>
      <p:sp>
        <p:nvSpPr>
          <p:cNvPr id="14" name="Shape 12"/>
          <p:cNvSpPr/>
          <p:nvPr/>
        </p:nvSpPr>
        <p:spPr>
          <a:xfrm>
            <a:off x="5989320" y="2148840"/>
            <a:ext cx="502920" cy="50292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675120" y="182880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84848" y="19019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Stage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84848" y="2249424"/>
            <a:ext cx="18836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Small / crowded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targeted sliced fine-tune</a:t>
            </a:r>
          </a:p>
        </p:txBody>
      </p:sp>
      <p:sp>
        <p:nvSpPr>
          <p:cNvPr id="18" name="Shape 16"/>
          <p:cNvSpPr/>
          <p:nvPr/>
        </p:nvSpPr>
        <p:spPr>
          <a:xfrm>
            <a:off x="9006840" y="2148840"/>
            <a:ext cx="502920" cy="502920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92640" y="18288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802368" y="19019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7BBF"/>
                </a:solidFill>
                <a:latin typeface="Arial"/>
              </a:rPr>
              <a:t>Audit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02368" y="2249424"/>
            <a:ext cx="16093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Confidence sweep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+ error analysis</a:t>
            </a:r>
          </a:p>
        </p:txBody>
      </p:sp>
      <p:sp>
        <p:nvSpPr>
          <p:cNvPr id="22" name="Text 20"/>
          <p:cNvSpPr/>
          <p:nvPr/>
        </p:nvSpPr>
        <p:spPr>
          <a:xfrm>
            <a:off x="777240" y="370332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800">
                <a:solidFill>
                  <a:srgbClr val="F8FAFC"/>
                </a:solidFill>
                <a:latin typeface="Arial"/>
              </a:rPr>
              <a:t>Key Stage 3 additions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24128" y="44165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D166"/>
                </a:solidFill>
                <a:latin typeface="Arial"/>
              </a:rPr>
              <a:t>Small Coral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" y="4764024"/>
            <a:ext cx="20665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Targeted slices for small objects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74720" y="43434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584448" y="44165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Crowded Scenes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84448" y="4764024"/>
            <a:ext cx="20665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Focus on crowded images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43434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144768" y="44165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4DEBFF"/>
                </a:solidFill>
                <a:latin typeface="Arial"/>
              </a:rPr>
              <a:t>Localization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44768" y="4764024"/>
            <a:ext cx="20665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Low-IoU and FN analysis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595360" y="43434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705088" y="44165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7BBF"/>
                </a:solidFill>
                <a:latin typeface="Arial"/>
              </a:rPr>
              <a:t>Threshold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05088" y="4764024"/>
            <a:ext cx="20665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F1-based confidence selection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350">
                <a:solidFill>
                  <a:srgbClr val="FFD166"/>
                </a:solidFill>
                <a:latin typeface="Arial"/>
              </a:rPr>
              <a:t>Result: YOLO Stage 3 is the best current balance, but small/crowded coral remains the main bottleneck.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850">
                <a:solidFill>
                  <a:srgbClr val="7C8DA3"/>
                </a:solidFill>
                <a:latin typeface="Arial"/>
              </a:rPr>
              <a:t>Coral Reef AI • 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2700" b="1">
                <a:solidFill>
                  <a:srgbClr val="F8FAFC"/>
                </a:solidFill>
                <a:latin typeface="Arial"/>
              </a:rPr>
              <a:t>MobileNet — Role in the System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1350">
                <a:solidFill>
                  <a:srgbClr val="B8C7D9"/>
                </a:solidFill>
                <a:latin typeface="Arial"/>
              </a:rPr>
              <a:t>MobileNet does not search the full image; it receives a YOLO crop and classifies the species.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091A2A"/>
          </a:solidFill>
          <a:ln w="1524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22529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300">
                <a:solidFill>
                  <a:srgbClr val="F8FAFC"/>
                </a:solidFill>
                <a:latin typeface="Arial"/>
              </a:rPr>
              <a:t>Input: bounding-box crop + 10% context  →  Output: coral species among 6 classes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6968" y="194767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D166"/>
                </a:solidFill>
                <a:latin typeface="Arial"/>
              </a:rPr>
              <a:t>Input Crop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2295144"/>
            <a:ext cx="22951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YOLO bbox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+10% context</a:t>
            </a:r>
          </a:p>
        </p:txBody>
      </p:sp>
      <p:sp>
        <p:nvSpPr>
          <p:cNvPr id="12" name="Shape 10"/>
          <p:cNvSpPr/>
          <p:nvPr/>
        </p:nvSpPr>
        <p:spPr>
          <a:xfrm>
            <a:off x="3611880" y="2194560"/>
            <a:ext cx="640080" cy="54864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26280" y="18745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36008" y="194767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MobileNetV4 V3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6008" y="2295144"/>
            <a:ext cx="2569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288×288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classification model</a:t>
            </a:r>
          </a:p>
        </p:txBody>
      </p:sp>
      <p:sp>
        <p:nvSpPr>
          <p:cNvPr id="16" name="Shape 14"/>
          <p:cNvSpPr/>
          <p:nvPr/>
        </p:nvSpPr>
        <p:spPr>
          <a:xfrm>
            <a:off x="7635240" y="2194560"/>
            <a:ext cx="640080" cy="548640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549640" y="187452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59368" y="194767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7BBF"/>
                </a:solidFill>
                <a:latin typeface="Arial"/>
              </a:rPr>
              <a:t>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59368" y="2295144"/>
            <a:ext cx="26151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Species name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+ class confidence</a:t>
            </a:r>
          </a:p>
        </p:txBody>
      </p:sp>
      <p:sp>
        <p:nvSpPr>
          <p:cNvPr id="20" name="Text 18"/>
          <p:cNvSpPr/>
          <p:nvPr/>
        </p:nvSpPr>
        <p:spPr>
          <a:xfrm>
            <a:off x="100584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0584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050">
                <a:solidFill>
                  <a:srgbClr val="B8C7D9"/>
                </a:solidFill>
                <a:latin typeface="Arial"/>
              </a:rPr>
              <a:t>Validation Accuracy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4612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050">
                <a:solidFill>
                  <a:srgbClr val="B8C7D9"/>
                </a:solidFill>
                <a:latin typeface="Arial"/>
              </a:rPr>
              <a:t>Validation Macro-F1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0.898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050">
                <a:solidFill>
                  <a:srgbClr val="B8C7D9"/>
                </a:solidFill>
                <a:latin typeface="Arial"/>
              </a:rPr>
              <a:t>Test Accuracy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2668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72668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050">
                <a:solidFill>
                  <a:srgbClr val="B8C7D9"/>
                </a:solidFill>
                <a:latin typeface="Arial"/>
              </a:rPr>
              <a:t>Test Macro-F1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96696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96696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050">
                <a:solidFill>
                  <a:srgbClr val="B8C7D9"/>
                </a:solidFill>
                <a:latin typeface="Arial"/>
              </a:rPr>
              <a:t>Sarcophyton F1 Test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850">
                <a:solidFill>
                  <a:srgbClr val="7C8DA3"/>
                </a:solidFill>
                <a:latin typeface="Arial"/>
              </a:rPr>
              <a:t>Coral Reef AI • 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2700" b="1">
                <a:solidFill>
                  <a:srgbClr val="F8FAFC"/>
                </a:solidFill>
                <a:latin typeface="Arial"/>
              </a:rPr>
              <a:t>MobileNet Evolution — What Improved the Result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1350">
                <a:solidFill>
                  <a:srgbClr val="B8C7D9"/>
                </a:solidFill>
                <a:latin typeface="Arial"/>
              </a:rPr>
              <a:t>The largest gains came from adding context and preserving texture details.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76479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5EA8FF"/>
                </a:solidFill>
                <a:latin typeface="Arial"/>
              </a:rPr>
              <a:t>V1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112264"/>
            <a:ext cx="18379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224px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exact GT crop</a:t>
            </a:r>
          </a:p>
          <a:p>
            <a:r>
              <a:rPr sz="1150">
                <a:solidFill>
                  <a:srgbClr val="F8FAFC"/>
                </a:solidFill>
                <a:latin typeface="Arial"/>
              </a:rPr>
              <a:t>Macro-F1 0.793</a:t>
            </a:r>
          </a:p>
        </p:txBody>
      </p:sp>
      <p:sp>
        <p:nvSpPr>
          <p:cNvPr id="10" name="Shape 8"/>
          <p:cNvSpPr/>
          <p:nvPr/>
        </p:nvSpPr>
        <p:spPr>
          <a:xfrm>
            <a:off x="2788920" y="1993392"/>
            <a:ext cx="457200" cy="50292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38728" y="176479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4DEBFF"/>
                </a:solidFill>
                <a:latin typeface="Arial"/>
              </a:rPr>
              <a:t>Refined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8728" y="2112264"/>
            <a:ext cx="18379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Gentle fine-tuning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low LR</a:t>
            </a:r>
          </a:p>
          <a:p>
            <a:r>
              <a:rPr sz="1150">
                <a:solidFill>
                  <a:srgbClr val="F8FAFC"/>
                </a:solidFill>
                <a:latin typeface="Arial"/>
              </a:rPr>
              <a:t>Macro-F1 0.870</a:t>
            </a:r>
          </a:p>
        </p:txBody>
      </p:sp>
      <p:sp>
        <p:nvSpPr>
          <p:cNvPr id="14" name="Shape 12"/>
          <p:cNvSpPr/>
          <p:nvPr/>
        </p:nvSpPr>
        <p:spPr>
          <a:xfrm>
            <a:off x="5669280" y="1993392"/>
            <a:ext cx="457200" cy="50292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09360" y="169164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19088" y="176479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V2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9088" y="2112264"/>
            <a:ext cx="18379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Targeted improvement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Sarcophyton/Sinularia</a:t>
            </a:r>
          </a:p>
          <a:p>
            <a:r>
              <a:rPr sz="1150">
                <a:solidFill>
                  <a:srgbClr val="F8FAFC"/>
                </a:solidFill>
                <a:latin typeface="Arial"/>
              </a:rPr>
              <a:t>Macro-F1 0.903</a:t>
            </a:r>
          </a:p>
        </p:txBody>
      </p:sp>
      <p:sp>
        <p:nvSpPr>
          <p:cNvPr id="18" name="Shape 16"/>
          <p:cNvSpPr/>
          <p:nvPr/>
        </p:nvSpPr>
        <p:spPr>
          <a:xfrm>
            <a:off x="8549640" y="1993392"/>
            <a:ext cx="457200" cy="502920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89720" y="169164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299448" y="176479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7BBF"/>
                </a:solidFill>
                <a:latin typeface="Arial"/>
              </a:rPr>
              <a:t>V3 Final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99448" y="2112264"/>
            <a:ext cx="22037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288px +10% context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hard mining</a:t>
            </a:r>
          </a:p>
          <a:p>
            <a:r>
              <a:rPr sz="1150">
                <a:solidFill>
                  <a:srgbClr val="F8FAFC"/>
                </a:solidFill>
                <a:latin typeface="Arial"/>
              </a:rPr>
              <a:t>Macro-F1 0.917</a:t>
            </a:r>
          </a:p>
        </p:txBody>
      </p:sp>
      <p:sp>
        <p:nvSpPr>
          <p:cNvPr id="22" name="Text 20"/>
          <p:cNvSpPr/>
          <p:nvPr/>
        </p:nvSpPr>
        <p:spPr>
          <a:xfrm>
            <a:off x="868680" y="3703320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800">
                <a:solidFill>
                  <a:srgbClr val="F8FAFC"/>
                </a:solidFill>
                <a:latin typeface="Arial"/>
              </a:rPr>
              <a:t>Final V3 additions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05840" y="42519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15568" y="432511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D166"/>
                </a:solidFill>
                <a:latin typeface="Arial"/>
              </a:rPr>
              <a:t> +10% Context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15568" y="4672584"/>
            <a:ext cx="20208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Shows coral shape and boundaries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520440" y="42519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30168" y="432511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288px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30168" y="4672584"/>
            <a:ext cx="20208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More detail than 224px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42519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144768" y="432511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4DEBFF"/>
                </a:solidFill>
                <a:latin typeface="Arial"/>
              </a:rPr>
              <a:t>Hard Mining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44768" y="4672584"/>
            <a:ext cx="20208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Reweights hard errors only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549640" y="42519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659368" y="432511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7BBF"/>
                </a:solidFill>
                <a:latin typeface="Arial"/>
              </a:rPr>
              <a:t>Texture-safe Aug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59368" y="4672584"/>
            <a:ext cx="20208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No blur / heavy compression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450">
                <a:solidFill>
                  <a:srgbClr val="74F2A8"/>
                </a:solidFill>
                <a:latin typeface="Arial"/>
              </a:rPr>
              <a:t>Conclusion: the classifier is now strong; most End-to-End loss is caused by detection before classification.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850">
                <a:solidFill>
                  <a:srgbClr val="7C8DA3"/>
                </a:solidFill>
                <a:latin typeface="Arial"/>
              </a:rPr>
              <a:t>Coral Reef AI • 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2700" b="1">
                <a:solidFill>
                  <a:srgbClr val="F8FAFC"/>
                </a:solidFill>
                <a:latin typeface="Arial"/>
              </a:rPr>
              <a:t>YOLO + MobileNet Together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1350">
                <a:solidFill>
                  <a:srgbClr val="B8C7D9"/>
                </a:solidFill>
                <a:latin typeface="Arial"/>
              </a:rPr>
              <a:t>This shows the full pipeline result, not just individual model performance.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176479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4DEBFF"/>
                </a:solidFill>
                <a:latin typeface="Arial"/>
              </a:rPr>
              <a:t>YOLO Stage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112264"/>
            <a:ext cx="17465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Detect coral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box + confidence</a:t>
            </a:r>
          </a:p>
        </p:txBody>
      </p:sp>
      <p:sp>
        <p:nvSpPr>
          <p:cNvPr id="10" name="Shape 8"/>
          <p:cNvSpPr/>
          <p:nvPr/>
        </p:nvSpPr>
        <p:spPr>
          <a:xfrm>
            <a:off x="2880360" y="1947672"/>
            <a:ext cx="530352" cy="530352"/>
          </a:xfrm>
          <a:prstGeom prst="rightArrow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11880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21608" y="176479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D166"/>
                </a:solidFill>
                <a:latin typeface="Arial"/>
              </a:rPr>
              <a:t> +10% Context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21608" y="2112264"/>
            <a:ext cx="17465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Crop around box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06440" y="1947672"/>
            <a:ext cx="530352" cy="530352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537960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47688" y="176479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MobileNet V3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47688" y="2112264"/>
            <a:ext cx="17465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Species + confidence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32520" y="1947672"/>
            <a:ext cx="530352" cy="530352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464040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573768" y="176479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7BBF"/>
                </a:solidFill>
                <a:latin typeface="Arial"/>
              </a:rPr>
              <a:t>Final Output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73768" y="2112264"/>
            <a:ext cx="17465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Box + species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05840" y="370332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0B1929"/>
          </a:solidFill>
          <a:ln w="15240">
            <a:solidFill>
              <a:srgbClr val="74F2A8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78992" y="377647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950">
                <a:solidFill>
                  <a:srgbClr val="B8C7D9"/>
                </a:solidFill>
                <a:latin typeface="Arial"/>
              </a:rPr>
              <a:t>Correct End-to-End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1560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 / 354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520440" y="370332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0B1929"/>
          </a:solidFill>
          <a:ln w="15240">
            <a:solidFill>
              <a:srgbClr val="4DEB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593592" y="377647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950">
                <a:solidFill>
                  <a:srgbClr val="B8C7D9"/>
                </a:solidFill>
                <a:latin typeface="Arial"/>
              </a:rPr>
              <a:t>E2E Species F1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0.709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035040" y="370332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0B1929"/>
          </a:solidFill>
          <a:ln w="15240">
            <a:solidFill>
              <a:srgbClr val="FFD166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108192" y="377647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950">
                <a:solidFill>
                  <a:srgbClr val="B8C7D9"/>
                </a:solidFill>
                <a:latin typeface="Arial"/>
              </a:rPr>
              <a:t>Classifier on Matched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0.941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549640" y="370332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0B1929"/>
          </a:solidFill>
          <a:ln w="15240">
            <a:solidFill>
              <a:srgbClr val="FF7BB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622792" y="377647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950">
                <a:solidFill>
                  <a:srgbClr val="B8C7D9"/>
                </a:solidFill>
                <a:latin typeface="Arial"/>
              </a:rPr>
              <a:t>Detector Recall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595360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68680" y="5074920"/>
            <a:ext cx="104698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600">
                <a:solidFill>
                  <a:srgbClr val="F8FAFC"/>
                </a:solidFill>
                <a:latin typeface="Arial"/>
              </a:rPr>
              <a:t>Interpretation: when YOLO finds the coral, MobileNet usually classifies it well. Therefore, improving the detector is the fastest path to raising End-to-End performance.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850">
                <a:solidFill>
                  <a:srgbClr val="7C8DA3"/>
                </a:solidFill>
                <a:latin typeface="Arial"/>
              </a:rPr>
              <a:t>Coral Reef AI • 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2700" b="1">
                <a:solidFill>
                  <a:srgbClr val="F8FAFC"/>
                </a:solidFill>
                <a:latin typeface="Arial"/>
              </a:rPr>
              <a:t>Video Inference — From V1 to V2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1350">
                <a:solidFill>
                  <a:srgbClr val="B8C7D9"/>
                </a:solidFill>
                <a:latin typeface="Arial"/>
              </a:rPr>
              <a:t>We handled the issue where boxes disappear/reappear or species labels change between frames.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FF7A7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17190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7A7A"/>
                </a:solidFill>
                <a:latin typeface="Arial"/>
              </a:rPr>
              <a:t>V1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066544"/>
            <a:ext cx="21579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Frame-by-frame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no temporal memory</a:t>
            </a:r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548640" cy="548640"/>
          </a:xfrm>
          <a:prstGeom prst="rightArrow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60520" y="16459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270248" y="1719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D166"/>
                </a:solidFill>
                <a:latin typeface="Arial"/>
              </a:rPr>
              <a:t>Problem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70248" y="2066544"/>
            <a:ext cx="22494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Box flicker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species flicker</a:t>
            </a:r>
          </a:p>
        </p:txBody>
      </p:sp>
      <p:sp>
        <p:nvSpPr>
          <p:cNvPr id="14" name="Shape 12"/>
          <p:cNvSpPr/>
          <p:nvPr/>
        </p:nvSpPr>
        <p:spPr>
          <a:xfrm>
            <a:off x="6903720" y="1965960"/>
            <a:ext cx="548640" cy="54864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26680" y="164592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836408" y="171907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V2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36408" y="2066544"/>
            <a:ext cx="27523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Tracking + smoothing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stable video output</a:t>
            </a:r>
          </a:p>
        </p:txBody>
      </p:sp>
      <p:sp>
        <p:nvSpPr>
          <p:cNvPr id="18" name="Text 16"/>
          <p:cNvSpPr/>
          <p:nvPr/>
        </p:nvSpPr>
        <p:spPr>
          <a:xfrm>
            <a:off x="777240" y="333756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800">
                <a:solidFill>
                  <a:srgbClr val="F8FAFC"/>
                </a:solidFill>
                <a:latin typeface="Arial"/>
              </a:rPr>
              <a:t>Video V2 additions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8680" y="3977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78408" y="405079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4DEBFF"/>
                </a:solidFill>
                <a:latin typeface="Arial"/>
              </a:rPr>
              <a:t>BoT-SORT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8408" y="4398264"/>
            <a:ext cx="192938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Track ID for each coral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91840" y="3977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401568" y="405079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BBox EMA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01568" y="4398264"/>
            <a:ext cx="192938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Stabilizes box movement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15000" y="3977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824728" y="405079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7BBF"/>
                </a:solidFill>
                <a:latin typeface="Arial"/>
              </a:rPr>
              <a:t>Class EMA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24728" y="4398264"/>
            <a:ext cx="192938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Stabilizes species label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3977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47888" y="405079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D166"/>
                </a:solidFill>
                <a:latin typeface="Arial"/>
              </a:rPr>
              <a:t>Gap Hold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47888" y="4398264"/>
            <a:ext cx="192938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Holds box for 1–2 frames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561320" y="3977640"/>
            <a:ext cx="914400" cy="960120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 w="1778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671048" y="4050792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A78BFA"/>
                </a:solidFill>
                <a:latin typeface="Arial"/>
              </a:rPr>
              <a:t>HQ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71048" y="4398264"/>
            <a:ext cx="6949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H.264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450">
                <a:solidFill>
                  <a:srgbClr val="FFD166"/>
                </a:solidFill>
                <a:latin typeface="Arial"/>
              </a:rPr>
              <a:t>We also added Unknown / Uncertain Coral when classifier confidence is low or the Top-1 vs Top-2 margin is small.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850">
                <a:solidFill>
                  <a:srgbClr val="7C8DA3"/>
                </a:solidFill>
                <a:latin typeface="Arial"/>
              </a:rPr>
              <a:t>Coral Reef AI •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2700" b="1">
                <a:solidFill>
                  <a:srgbClr val="F8FAFC"/>
                </a:solidFill>
                <a:latin typeface="Arial"/>
              </a:rPr>
              <a:t>Current Status + Next Experiments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sz="1350">
                <a:solidFill>
                  <a:srgbClr val="B8C7D9"/>
                </a:solidFill>
                <a:latin typeface="Arial"/>
              </a:rPr>
              <a:t>The current version works; the next experiments aim to raise the accuracy ceiling.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" y="16733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74F2A8"/>
                </a:solidFill>
                <a:latin typeface="Arial"/>
              </a:rPr>
              <a:t>Current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020824"/>
            <a:ext cx="26609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YOLO11n Stage 3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+ MobileNetV4 V3</a:t>
            </a:r>
          </a:p>
          <a:p>
            <a:r>
              <a:rPr sz="1150">
                <a:solidFill>
                  <a:srgbClr val="F8FAFC"/>
                </a:solidFill>
                <a:latin typeface="Arial"/>
              </a:rPr>
              <a:t>+ Video V2</a:t>
            </a:r>
          </a:p>
        </p:txBody>
      </p:sp>
      <p:sp>
        <p:nvSpPr>
          <p:cNvPr id="10" name="Shape 8"/>
          <p:cNvSpPr/>
          <p:nvPr/>
        </p:nvSpPr>
        <p:spPr>
          <a:xfrm>
            <a:off x="3886200" y="1965960"/>
            <a:ext cx="594360" cy="54864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54880" y="160020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64608" y="16733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4DEBFF"/>
                </a:solidFill>
                <a:latin typeface="Arial"/>
              </a:rPr>
              <a:t>Accuracy Candidate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2020824"/>
            <a:ext cx="26609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RF-DETR Large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+ ConvNeXt-Small</a:t>
            </a:r>
          </a:p>
        </p:txBody>
      </p:sp>
      <p:sp>
        <p:nvSpPr>
          <p:cNvPr id="14" name="Shape 12"/>
          <p:cNvSpPr/>
          <p:nvPr/>
        </p:nvSpPr>
        <p:spPr>
          <a:xfrm>
            <a:off x="7909560" y="1965960"/>
            <a:ext cx="594360" cy="548640"/>
          </a:xfrm>
          <a:prstGeom prst="rightArrow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77824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87968" y="167335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1400" b="1">
                <a:solidFill>
                  <a:srgbClr val="FFD166"/>
                </a:solidFill>
                <a:latin typeface="Arial"/>
              </a:rPr>
              <a:t>Speed Candidate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87968" y="2020824"/>
            <a:ext cx="23865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150">
                <a:solidFill>
                  <a:srgbClr val="F8FAFC"/>
                </a:solidFill>
                <a:latin typeface="Arial"/>
              </a:rPr>
              <a:t>YOLO26m</a:t>
            </a:r>
            <a:endParaRPr lang="en-US" sz="1150" dirty="0"/>
          </a:p>
          <a:p>
            <a:r>
              <a:rPr sz="1150">
                <a:solidFill>
                  <a:srgbClr val="F8FAFC"/>
                </a:solidFill>
                <a:latin typeface="Arial"/>
              </a:rPr>
              <a:t>+ EfficientNetV2-S</a:t>
            </a:r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104241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sz="1600">
                <a:solidFill>
                  <a:srgbClr val="F8FAFC"/>
                </a:solidFill>
                <a:latin typeface="Arial"/>
              </a:rPr>
              <a:t>Goal of the next comparison: determine whether gains come from a stronger detector, a stronger classifier, or the best combination of both.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51560" y="4663440"/>
            <a:ext cx="2377440" cy="868680"/>
          </a:xfrm>
          <a:prstGeom prst="roundRect">
            <a:avLst>
              <a:gd name="adj" fmla="val 5263"/>
            </a:avLst>
          </a:prstGeom>
          <a:solidFill>
            <a:srgbClr val="0B1929"/>
          </a:solidFill>
          <a:ln w="15240">
            <a:solidFill>
              <a:srgbClr val="FF7BB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24712" y="473659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950">
                <a:solidFill>
                  <a:srgbClr val="B8C7D9"/>
                </a:solidFill>
                <a:latin typeface="Arial"/>
              </a:rPr>
              <a:t>Main bottleneck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5001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500" b="1">
                <a:solidFill>
                  <a:srgbClr val="F8FAFC"/>
                </a:solidFill>
                <a:latin typeface="Arial"/>
              </a:rPr>
              <a:t>Small/Crowded Coral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794760" y="4663440"/>
            <a:ext cx="2377440" cy="868680"/>
          </a:xfrm>
          <a:prstGeom prst="roundRect">
            <a:avLst>
              <a:gd name="adj" fmla="val 5263"/>
            </a:avLst>
          </a:prstGeom>
          <a:solidFill>
            <a:srgbClr val="0B1929"/>
          </a:solidFill>
          <a:ln w="15240">
            <a:solidFill>
              <a:srgbClr val="74F2A8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867912" y="473659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950">
                <a:solidFill>
                  <a:srgbClr val="B8C7D9"/>
                </a:solidFill>
                <a:latin typeface="Arial"/>
              </a:rPr>
              <a:t>Classifier status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0" y="5001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500" b="1">
                <a:solidFill>
                  <a:srgbClr val="F8FAFC"/>
                </a:solidFill>
                <a:latin typeface="Arial"/>
              </a:rPr>
              <a:t>Strong enough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37960" y="4663440"/>
            <a:ext cx="2377440" cy="868680"/>
          </a:xfrm>
          <a:prstGeom prst="roundRect">
            <a:avLst>
              <a:gd name="adj" fmla="val 5263"/>
            </a:avLst>
          </a:prstGeom>
          <a:solidFill>
            <a:srgbClr val="0B1929"/>
          </a:solidFill>
          <a:ln w="15240">
            <a:solidFill>
              <a:srgbClr val="4DEB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11112" y="473659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950">
                <a:solidFill>
                  <a:srgbClr val="B8C7D9"/>
                </a:solidFill>
                <a:latin typeface="Arial"/>
              </a:rPr>
              <a:t>Video status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0" y="5001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500" b="1">
                <a:solidFill>
                  <a:srgbClr val="F8FAFC"/>
                </a:solidFill>
                <a:latin typeface="Arial"/>
              </a:rPr>
              <a:t>Stable V2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281160" y="4663440"/>
            <a:ext cx="1874520" cy="868680"/>
          </a:xfrm>
          <a:prstGeom prst="roundRect">
            <a:avLst>
              <a:gd name="adj" fmla="val 5263"/>
            </a:avLst>
          </a:prstGeom>
          <a:solidFill>
            <a:srgbClr val="0B1929"/>
          </a:solidFill>
          <a:ln w="15240">
            <a:solidFill>
              <a:srgbClr val="FFD166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354312" y="4736592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sz="950">
                <a:solidFill>
                  <a:srgbClr val="B8C7D9"/>
                </a:solidFill>
                <a:latin typeface="Arial"/>
              </a:rPr>
              <a:t>Next goal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26880" y="5001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500" b="1">
                <a:solidFill>
                  <a:srgbClr val="F8FAFC"/>
                </a:solidFill>
                <a:latin typeface="Arial"/>
              </a:rPr>
              <a:t>Higher E2E F1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850">
                <a:solidFill>
                  <a:srgbClr val="7C8DA3"/>
                </a:solidFill>
                <a:latin typeface="Arial"/>
              </a:rPr>
              <a:t>Coral Reef AI • 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Coral Reef AI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Coral Reef AI — YOLO + MobileNet Pipeline</dc:title>
  <dc:subject>Coral detection and classification pipeline</dc:subject>
  <dc:creator>OpenAI</dc:creator>
  <cp:lastModifiedBy>OpenAI</cp:lastModifiedBy>
  <cp:revision>1</cp:revision>
  <dcterms:created xsi:type="dcterms:W3CDTF">2026-08-11T04:00:02Z</dcterms:created>
  <dcterms:modified xsi:type="dcterms:W3CDTF">2026-08-11T04:00:02Z</dcterms:modified>
</cp:coreProperties>
</file>